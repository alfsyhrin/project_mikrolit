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like Bold" charset="1" panose="02000000000000000000"/>
      <p:regular r:id="rId14"/>
    </p:embeddedFont>
    <p:embeddedFont>
      <p:font typeface="Alike" charset="1" panose="02000000000000000000"/>
      <p:regular r:id="rId15"/>
    </p:embeddedFont>
    <p:embeddedFont>
      <p:font typeface="Radley"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6675" y="0"/>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TextBox 6" id="6"/>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grpSp>
        <p:nvGrpSpPr>
          <p:cNvPr name="Group 7" id="7"/>
          <p:cNvGrpSpPr/>
          <p:nvPr/>
        </p:nvGrpSpPr>
        <p:grpSpPr>
          <a:xfrm rot="0">
            <a:off x="2364579" y="4905375"/>
            <a:ext cx="13558843" cy="1307043"/>
            <a:chOff x="0" y="0"/>
            <a:chExt cx="18078457" cy="1742723"/>
          </a:xfrm>
        </p:grpSpPr>
        <p:sp>
          <p:nvSpPr>
            <p:cNvPr name="TextBox 8" id="8"/>
            <p:cNvSpPr txBox="true"/>
            <p:nvPr/>
          </p:nvSpPr>
          <p:spPr>
            <a:xfrm rot="0">
              <a:off x="0" y="-76200"/>
              <a:ext cx="18078457" cy="924495"/>
            </a:xfrm>
            <a:prstGeom prst="rect">
              <a:avLst/>
            </a:prstGeom>
          </p:spPr>
          <p:txBody>
            <a:bodyPr anchor="t" rtlCol="false" tIns="0" lIns="0" bIns="0" rIns="0">
              <a:spAutoFit/>
            </a:bodyPr>
            <a:lstStyle/>
            <a:p>
              <a:pPr algn="ctr">
                <a:lnSpc>
                  <a:spcPts val="5882"/>
                </a:lnSpc>
              </a:pPr>
              <a:r>
                <a:rPr lang="en-US" sz="4201">
                  <a:solidFill>
                    <a:srgbClr val="000000"/>
                  </a:solidFill>
                  <a:latin typeface="Alike"/>
                  <a:ea typeface="Alike"/>
                  <a:cs typeface="Alike"/>
                  <a:sym typeface="Alike"/>
                </a:rPr>
                <a:t>Struktur Fenomena Metode Ilmiah</a:t>
              </a:r>
            </a:p>
          </p:txBody>
        </p:sp>
        <p:sp>
          <p:nvSpPr>
            <p:cNvPr name="TextBox 9" id="9"/>
            <p:cNvSpPr txBox="true"/>
            <p:nvPr/>
          </p:nvSpPr>
          <p:spPr>
            <a:xfrm rot="0">
              <a:off x="5876607" y="1066726"/>
              <a:ext cx="6325243" cy="675997"/>
            </a:xfrm>
            <a:prstGeom prst="rect">
              <a:avLst/>
            </a:prstGeom>
          </p:spPr>
          <p:txBody>
            <a:bodyPr anchor="t" rtlCol="false" tIns="0" lIns="0" bIns="0" rIns="0">
              <a:spAutoFit/>
            </a:bodyPr>
            <a:lstStyle/>
            <a:p>
              <a:pPr algn="ctr">
                <a:lnSpc>
                  <a:spcPts val="4342"/>
                </a:lnSpc>
              </a:pPr>
              <a:r>
                <a:rPr lang="en-US" sz="3101">
                  <a:solidFill>
                    <a:srgbClr val="0F3D7A"/>
                  </a:solidFill>
                  <a:latin typeface="Alike Bold"/>
                  <a:ea typeface="Alike Bold"/>
                  <a:cs typeface="Alike Bold"/>
                  <a:sym typeface="Alike Bold"/>
                </a:rPr>
                <a:t>Sasmayunita, S.Pd.,M.Pd</a:t>
              </a:r>
            </a:p>
          </p:txBody>
        </p:sp>
      </p:grpSp>
      <p:sp>
        <p:nvSpPr>
          <p:cNvPr name="TextBox 10" id="10"/>
          <p:cNvSpPr txBox="true"/>
          <p:nvPr/>
        </p:nvSpPr>
        <p:spPr>
          <a:xfrm rot="0">
            <a:off x="209550" y="9641418"/>
            <a:ext cx="3252788" cy="497790"/>
          </a:xfrm>
          <a:prstGeom prst="rect">
            <a:avLst/>
          </a:prstGeom>
        </p:spPr>
        <p:txBody>
          <a:bodyPr anchor="t" rtlCol="false" tIns="0" lIns="0" bIns="0" rIns="0">
            <a:spAutoFit/>
          </a:bodyPr>
          <a:lstStyle/>
          <a:p>
            <a:pPr algn="ctr">
              <a:lnSpc>
                <a:spcPts val="4062"/>
              </a:lnSpc>
              <a:spcBef>
                <a:spcPct val="0"/>
              </a:spcBef>
            </a:pPr>
            <a:r>
              <a:rPr lang="en-US" sz="2901" spc="206">
                <a:solidFill>
                  <a:srgbClr val="000000"/>
                </a:solidFill>
                <a:latin typeface="Alike Bold"/>
                <a:ea typeface="Alike Bold"/>
                <a:cs typeface="Alike Bold"/>
                <a:sym typeface="Alike Bold"/>
              </a:rPr>
              <a:t>MIKROLIT - LMS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6675" y="0"/>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TextBox 6" id="6"/>
          <p:cNvSpPr txBox="true"/>
          <p:nvPr/>
        </p:nvSpPr>
        <p:spPr>
          <a:xfrm rot="0">
            <a:off x="737946" y="1825675"/>
            <a:ext cx="17053745" cy="7432625"/>
          </a:xfrm>
          <a:prstGeom prst="rect">
            <a:avLst/>
          </a:prstGeom>
        </p:spPr>
        <p:txBody>
          <a:bodyPr anchor="t" rtlCol="false" tIns="0" lIns="0" bIns="0" rIns="0">
            <a:spAutoFit/>
          </a:bodyPr>
          <a:lstStyle/>
          <a:p>
            <a:pPr algn="just">
              <a:lnSpc>
                <a:spcPts val="3502"/>
              </a:lnSpc>
            </a:pPr>
            <a:r>
              <a:rPr lang="en-US" sz="2501">
                <a:solidFill>
                  <a:srgbClr val="000000"/>
                </a:solidFill>
                <a:latin typeface="Radley"/>
                <a:ea typeface="Radley"/>
                <a:cs typeface="Radley"/>
                <a:sym typeface="Radley"/>
              </a:rPr>
              <a:t>Observasi merupakan tahap awal dalam metode ilmiah yang dilakukan dengan cara mengamati fenomena yang terjadi di lingkungan sekitar.</a:t>
            </a:r>
          </a:p>
          <a:p>
            <a:pPr algn="just">
              <a:lnSpc>
                <a:spcPts val="3502"/>
              </a:lnSpc>
            </a:pPr>
          </a:p>
          <a:p>
            <a:pPr algn="just">
              <a:lnSpc>
                <a:spcPts val="3502"/>
              </a:lnSpc>
            </a:pPr>
            <a:r>
              <a:rPr lang="en-US" sz="2501">
                <a:solidFill>
                  <a:srgbClr val="000000"/>
                </a:solidFill>
                <a:latin typeface="Radley"/>
                <a:ea typeface="Radley"/>
                <a:cs typeface="Radley"/>
                <a:sym typeface="Radley"/>
              </a:rPr>
              <a:t>Setelah melakukan observasi terhadap fenomena tersebut, langkah selanjutnya adalah melakukan identifikasi masalah. Identifikasi masalah bertujuan untuk menemukan inti permasalahan yang muncul dari fenomena yang diamati.</a:t>
            </a:r>
          </a:p>
          <a:p>
            <a:pPr algn="just">
              <a:lnSpc>
                <a:spcPts val="3502"/>
              </a:lnSpc>
            </a:pPr>
          </a:p>
          <a:p>
            <a:pPr algn="just">
              <a:lnSpc>
                <a:spcPts val="3502"/>
              </a:lnSpc>
            </a:pPr>
            <a:r>
              <a:rPr lang="en-US" sz="2501">
                <a:solidFill>
                  <a:srgbClr val="000000"/>
                </a:solidFill>
                <a:latin typeface="Radley"/>
                <a:ea typeface="Radley"/>
                <a:cs typeface="Radley"/>
                <a:sym typeface="Radley"/>
              </a:rPr>
              <a:t>Rumusan masalah merupakan bentuk pertanyaan penelitian yang disusun berdasarkan masalah yang telah diidentifikasi sebelumnya. Rumusan masalah berfungsi sebagai arah atau fokus dari penelitian yang akan dilakukan</a:t>
            </a:r>
          </a:p>
          <a:p>
            <a:pPr algn="just">
              <a:lnSpc>
                <a:spcPts val="3502"/>
              </a:lnSpc>
            </a:pPr>
          </a:p>
          <a:p>
            <a:pPr algn="just">
              <a:lnSpc>
                <a:spcPts val="3502"/>
              </a:lnSpc>
            </a:pPr>
            <a:r>
              <a:rPr lang="en-US" sz="2501">
                <a:solidFill>
                  <a:srgbClr val="000000"/>
                </a:solidFill>
                <a:latin typeface="Radley"/>
                <a:ea typeface="Radley"/>
                <a:cs typeface="Radley"/>
                <a:sym typeface="Radley"/>
              </a:rPr>
              <a:t>Hipotesis merupakan dugaan sementara yang diajukan sebagai jawaban awal terhadap rumusan masalah yang telah dibuat. Hipotesis disusun berdasarkan pengetahuan awal, logika, atau pengalaman yang dimiliki oleh peneliti.</a:t>
            </a:r>
          </a:p>
          <a:p>
            <a:pPr algn="just">
              <a:lnSpc>
                <a:spcPts val="3502"/>
              </a:lnSpc>
            </a:pPr>
          </a:p>
          <a:p>
            <a:pPr algn="just">
              <a:lnSpc>
                <a:spcPts val="3502"/>
              </a:lnSpc>
            </a:pPr>
            <a:r>
              <a:rPr lang="en-US" sz="2501">
                <a:solidFill>
                  <a:srgbClr val="000000"/>
                </a:solidFill>
                <a:latin typeface="Radley"/>
                <a:ea typeface="Radley"/>
                <a:cs typeface="Radley"/>
                <a:sym typeface="Radley"/>
              </a:rPr>
              <a:t>Tahap analisis dilakukan setelah peneliti mengumpulkan data yang berkaitan dengan masalah penelitian. Data dapat diperoleh melalui berbagai metode seperti survei kepada mahasiswa, wawancara, atau observasi terhadap kebiasaan mahasiswa dalam mencari referensi.</a:t>
            </a:r>
          </a:p>
          <a:p>
            <a:pPr algn="just">
              <a:lnSpc>
                <a:spcPts val="3502"/>
              </a:lnSpc>
            </a:pPr>
          </a:p>
          <a:p>
            <a:pPr algn="just">
              <a:lnSpc>
                <a:spcPts val="3502"/>
              </a:lnSpc>
            </a:pPr>
            <a:r>
              <a:rPr lang="en-US" sz="2501">
                <a:solidFill>
                  <a:srgbClr val="000000"/>
                </a:solidFill>
                <a:latin typeface="Radley"/>
                <a:ea typeface="Radley"/>
                <a:cs typeface="Radley"/>
                <a:sym typeface="Radley"/>
              </a:rPr>
              <a:t>Kesimpulan merupakan tahap akhir dalam metode ilmiah yang berisi hasil dari analisis data yang telah dilakukan</a:t>
            </a:r>
          </a:p>
        </p:txBody>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Pembukaan</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1354"/>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Freeform 6" id="6"/>
          <p:cNvSpPr/>
          <p:nvPr/>
        </p:nvSpPr>
        <p:spPr>
          <a:xfrm flipH="false" flipV="false" rot="0">
            <a:off x="3493371" y="4190333"/>
            <a:ext cx="11301259" cy="3588150"/>
          </a:xfrm>
          <a:custGeom>
            <a:avLst/>
            <a:gdLst/>
            <a:ahLst/>
            <a:cxnLst/>
            <a:rect r="r" b="b" t="t" l="l"/>
            <a:pathLst>
              <a:path h="3588150" w="11301259">
                <a:moveTo>
                  <a:pt x="0" y="0"/>
                </a:moveTo>
                <a:lnTo>
                  <a:pt x="11301258" y="0"/>
                </a:lnTo>
                <a:lnTo>
                  <a:pt x="11301258" y="3588150"/>
                </a:lnTo>
                <a:lnTo>
                  <a:pt x="0" y="3588150"/>
                </a:lnTo>
                <a:lnTo>
                  <a:pt x="0" y="0"/>
                </a:lnTo>
                <a:close/>
              </a:path>
            </a:pathLst>
          </a:custGeom>
          <a:blipFill>
            <a:blip r:embed="rId3"/>
            <a:stretch>
              <a:fillRect l="0" t="0" r="0" b="0"/>
            </a:stretch>
          </a:blipFill>
          <a:ln w="28575" cap="sq">
            <a:solidFill>
              <a:srgbClr val="000000"/>
            </a:solidFill>
            <a:prstDash val="solid"/>
            <a:miter/>
          </a:ln>
        </p:spPr>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Observasi</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
        <p:nvSpPr>
          <p:cNvPr name="TextBox 10" id="10"/>
          <p:cNvSpPr txBox="true"/>
          <p:nvPr/>
        </p:nvSpPr>
        <p:spPr>
          <a:xfrm rot="0">
            <a:off x="3649530" y="2471438"/>
            <a:ext cx="10988939" cy="1718895"/>
          </a:xfrm>
          <a:prstGeom prst="rect">
            <a:avLst/>
          </a:prstGeom>
        </p:spPr>
        <p:txBody>
          <a:bodyPr anchor="t" rtlCol="false" tIns="0" lIns="0" bIns="0" rIns="0">
            <a:spAutoFit/>
          </a:bodyPr>
          <a:lstStyle/>
          <a:p>
            <a:pPr algn="ctr">
              <a:lnSpc>
                <a:spcPts val="4762"/>
              </a:lnSpc>
            </a:pPr>
            <a:r>
              <a:rPr lang="en-US" sz="3401">
                <a:solidFill>
                  <a:srgbClr val="000000"/>
                </a:solidFill>
                <a:latin typeface="Radley"/>
                <a:ea typeface="Radley"/>
                <a:cs typeface="Radley"/>
                <a:sym typeface="Radley"/>
              </a:rPr>
              <a:t>Fenomena mahasiswa lebih sering menggunakan Google dibanding membaca jurnal ilmiah.</a:t>
            </a:r>
          </a:p>
          <a:p>
            <a:pPr algn="ctr">
              <a:lnSpc>
                <a:spcPts val="4202"/>
              </a:lnSpc>
            </a:pPr>
          </a:p>
        </p:txBody>
      </p:sp>
      <p:sp>
        <p:nvSpPr>
          <p:cNvPr name="TextBox 11" id="11"/>
          <p:cNvSpPr txBox="true"/>
          <p:nvPr/>
        </p:nvSpPr>
        <p:spPr>
          <a:xfrm rot="0">
            <a:off x="7426154" y="8191045"/>
            <a:ext cx="3435691" cy="514300"/>
          </a:xfrm>
          <a:prstGeom prst="rect">
            <a:avLst/>
          </a:prstGeom>
        </p:spPr>
        <p:txBody>
          <a:bodyPr anchor="t" rtlCol="false" tIns="0" lIns="0" bIns="0" rIns="0">
            <a:spAutoFit/>
          </a:bodyPr>
          <a:lstStyle/>
          <a:p>
            <a:pPr algn="ctr">
              <a:lnSpc>
                <a:spcPts val="4202"/>
              </a:lnSpc>
            </a:pPr>
            <a:r>
              <a:rPr lang="en-US" sz="3001">
                <a:solidFill>
                  <a:srgbClr val="000000"/>
                </a:solidFill>
                <a:latin typeface="Radley"/>
                <a:ea typeface="Radley"/>
                <a:cs typeface="Radley"/>
                <a:sym typeface="Radley"/>
              </a:rPr>
              <a:t>OBSERVASI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1354"/>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Freeform 6" id="6"/>
          <p:cNvSpPr/>
          <p:nvPr/>
        </p:nvSpPr>
        <p:spPr>
          <a:xfrm flipH="false" flipV="false" rot="0">
            <a:off x="3493371" y="3770824"/>
            <a:ext cx="11301259" cy="4435744"/>
          </a:xfrm>
          <a:custGeom>
            <a:avLst/>
            <a:gdLst/>
            <a:ahLst/>
            <a:cxnLst/>
            <a:rect r="r" b="b" t="t" l="l"/>
            <a:pathLst>
              <a:path h="4435744" w="11301259">
                <a:moveTo>
                  <a:pt x="0" y="0"/>
                </a:moveTo>
                <a:lnTo>
                  <a:pt x="11301258" y="0"/>
                </a:lnTo>
                <a:lnTo>
                  <a:pt x="11301258" y="4435744"/>
                </a:lnTo>
                <a:lnTo>
                  <a:pt x="0" y="4435744"/>
                </a:lnTo>
                <a:lnTo>
                  <a:pt x="0" y="0"/>
                </a:lnTo>
                <a:close/>
              </a:path>
            </a:pathLst>
          </a:custGeom>
          <a:blipFill>
            <a:blip r:embed="rId3"/>
            <a:stretch>
              <a:fillRect l="0" t="0" r="0" b="0"/>
            </a:stretch>
          </a:blipFill>
          <a:ln w="28575" cap="sq">
            <a:solidFill>
              <a:srgbClr val="000000"/>
            </a:solidFill>
            <a:prstDash val="solid"/>
            <a:miter/>
          </a:ln>
        </p:spPr>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Identtifikasi Masalah</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
        <p:nvSpPr>
          <p:cNvPr name="TextBox 10" id="10"/>
          <p:cNvSpPr txBox="true"/>
          <p:nvPr/>
        </p:nvSpPr>
        <p:spPr>
          <a:xfrm rot="0">
            <a:off x="3649530" y="2051928"/>
            <a:ext cx="10988939" cy="1718895"/>
          </a:xfrm>
          <a:prstGeom prst="rect">
            <a:avLst/>
          </a:prstGeom>
        </p:spPr>
        <p:txBody>
          <a:bodyPr anchor="t" rtlCol="false" tIns="0" lIns="0" bIns="0" rIns="0">
            <a:spAutoFit/>
          </a:bodyPr>
          <a:lstStyle/>
          <a:p>
            <a:pPr algn="ctr">
              <a:lnSpc>
                <a:spcPts val="4762"/>
              </a:lnSpc>
            </a:pPr>
            <a:r>
              <a:rPr lang="en-US" sz="3401">
                <a:solidFill>
                  <a:srgbClr val="000000"/>
                </a:solidFill>
                <a:latin typeface="Radley"/>
                <a:ea typeface="Radley"/>
                <a:cs typeface="Radley"/>
                <a:sym typeface="Radley"/>
              </a:rPr>
              <a:t>Fenomena mahasiswa lebih sering menggunakan Google dibanding membaca jurnal ilmiah.</a:t>
            </a:r>
          </a:p>
          <a:p>
            <a:pPr algn="ctr">
              <a:lnSpc>
                <a:spcPts val="4202"/>
              </a:lnSpc>
            </a:pPr>
          </a:p>
        </p:txBody>
      </p:sp>
      <p:sp>
        <p:nvSpPr>
          <p:cNvPr name="TextBox 11" id="11"/>
          <p:cNvSpPr txBox="true"/>
          <p:nvPr/>
        </p:nvSpPr>
        <p:spPr>
          <a:xfrm rot="0">
            <a:off x="6272503" y="8744000"/>
            <a:ext cx="5742995" cy="514300"/>
          </a:xfrm>
          <a:prstGeom prst="rect">
            <a:avLst/>
          </a:prstGeom>
        </p:spPr>
        <p:txBody>
          <a:bodyPr anchor="t" rtlCol="false" tIns="0" lIns="0" bIns="0" rIns="0">
            <a:spAutoFit/>
          </a:bodyPr>
          <a:lstStyle/>
          <a:p>
            <a:pPr algn="ctr">
              <a:lnSpc>
                <a:spcPts val="4202"/>
              </a:lnSpc>
            </a:pPr>
            <a:r>
              <a:rPr lang="en-US" sz="3001">
                <a:solidFill>
                  <a:srgbClr val="000000"/>
                </a:solidFill>
                <a:latin typeface="Radley"/>
                <a:ea typeface="Radley"/>
                <a:cs typeface="Radley"/>
                <a:sym typeface="Radley"/>
              </a:rPr>
              <a:t>IDENTIFIKASI MASALAH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1354"/>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Freeform 6" id="6"/>
          <p:cNvSpPr/>
          <p:nvPr/>
        </p:nvSpPr>
        <p:spPr>
          <a:xfrm flipH="false" flipV="false" rot="0">
            <a:off x="3493371" y="4176278"/>
            <a:ext cx="11301259" cy="2754682"/>
          </a:xfrm>
          <a:custGeom>
            <a:avLst/>
            <a:gdLst/>
            <a:ahLst/>
            <a:cxnLst/>
            <a:rect r="r" b="b" t="t" l="l"/>
            <a:pathLst>
              <a:path h="2754682" w="11301259">
                <a:moveTo>
                  <a:pt x="0" y="0"/>
                </a:moveTo>
                <a:lnTo>
                  <a:pt x="11301258" y="0"/>
                </a:lnTo>
                <a:lnTo>
                  <a:pt x="11301258" y="2754682"/>
                </a:lnTo>
                <a:lnTo>
                  <a:pt x="0" y="2754682"/>
                </a:lnTo>
                <a:lnTo>
                  <a:pt x="0" y="0"/>
                </a:lnTo>
                <a:close/>
              </a:path>
            </a:pathLst>
          </a:custGeom>
          <a:blipFill>
            <a:blip r:embed="rId3"/>
            <a:stretch>
              <a:fillRect l="0" t="0" r="0" b="0"/>
            </a:stretch>
          </a:blipFill>
          <a:ln w="28575" cap="sq">
            <a:solidFill>
              <a:srgbClr val="000000"/>
            </a:solidFill>
            <a:prstDash val="solid"/>
            <a:miter/>
          </a:ln>
        </p:spPr>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Rumusan Masalah</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
        <p:nvSpPr>
          <p:cNvPr name="TextBox 10" id="10"/>
          <p:cNvSpPr txBox="true"/>
          <p:nvPr/>
        </p:nvSpPr>
        <p:spPr>
          <a:xfrm rot="0">
            <a:off x="3649530" y="2457383"/>
            <a:ext cx="10988939" cy="1718895"/>
          </a:xfrm>
          <a:prstGeom prst="rect">
            <a:avLst/>
          </a:prstGeom>
        </p:spPr>
        <p:txBody>
          <a:bodyPr anchor="t" rtlCol="false" tIns="0" lIns="0" bIns="0" rIns="0">
            <a:spAutoFit/>
          </a:bodyPr>
          <a:lstStyle/>
          <a:p>
            <a:pPr algn="ctr">
              <a:lnSpc>
                <a:spcPts val="4762"/>
              </a:lnSpc>
            </a:pPr>
            <a:r>
              <a:rPr lang="en-US" sz="3401">
                <a:solidFill>
                  <a:srgbClr val="000000"/>
                </a:solidFill>
                <a:latin typeface="Radley"/>
                <a:ea typeface="Radley"/>
                <a:cs typeface="Radley"/>
                <a:sym typeface="Radley"/>
              </a:rPr>
              <a:t>Fenomena mahasiswa lebih sering menggunakan Google dibanding membaca jurnal ilmiah.</a:t>
            </a:r>
          </a:p>
          <a:p>
            <a:pPr algn="ctr">
              <a:lnSpc>
                <a:spcPts val="4202"/>
              </a:lnSpc>
            </a:pPr>
          </a:p>
        </p:txBody>
      </p:sp>
      <p:sp>
        <p:nvSpPr>
          <p:cNvPr name="TextBox 11" id="11"/>
          <p:cNvSpPr txBox="true"/>
          <p:nvPr/>
        </p:nvSpPr>
        <p:spPr>
          <a:xfrm rot="0">
            <a:off x="6272503" y="7283385"/>
            <a:ext cx="5742995" cy="514300"/>
          </a:xfrm>
          <a:prstGeom prst="rect">
            <a:avLst/>
          </a:prstGeom>
        </p:spPr>
        <p:txBody>
          <a:bodyPr anchor="t" rtlCol="false" tIns="0" lIns="0" bIns="0" rIns="0">
            <a:spAutoFit/>
          </a:bodyPr>
          <a:lstStyle/>
          <a:p>
            <a:pPr algn="ctr">
              <a:lnSpc>
                <a:spcPts val="4202"/>
              </a:lnSpc>
            </a:pPr>
            <a:r>
              <a:rPr lang="en-US" sz="3001">
                <a:solidFill>
                  <a:srgbClr val="000000"/>
                </a:solidFill>
                <a:latin typeface="Radley"/>
                <a:ea typeface="Radley"/>
                <a:cs typeface="Radley"/>
                <a:sym typeface="Radley"/>
              </a:rPr>
              <a:t>Rumusan Masalah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1354"/>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Freeform 6" id="6"/>
          <p:cNvSpPr/>
          <p:nvPr/>
        </p:nvSpPr>
        <p:spPr>
          <a:xfrm flipH="false" flipV="false" rot="0">
            <a:off x="3493371" y="3899923"/>
            <a:ext cx="11301259" cy="3913061"/>
          </a:xfrm>
          <a:custGeom>
            <a:avLst/>
            <a:gdLst/>
            <a:ahLst/>
            <a:cxnLst/>
            <a:rect r="r" b="b" t="t" l="l"/>
            <a:pathLst>
              <a:path h="3913061" w="11301259">
                <a:moveTo>
                  <a:pt x="0" y="0"/>
                </a:moveTo>
                <a:lnTo>
                  <a:pt x="11301258" y="0"/>
                </a:lnTo>
                <a:lnTo>
                  <a:pt x="11301258" y="3913061"/>
                </a:lnTo>
                <a:lnTo>
                  <a:pt x="0" y="3913061"/>
                </a:lnTo>
                <a:lnTo>
                  <a:pt x="0" y="0"/>
                </a:lnTo>
                <a:close/>
              </a:path>
            </a:pathLst>
          </a:custGeom>
          <a:blipFill>
            <a:blip r:embed="rId3"/>
            <a:stretch>
              <a:fillRect l="0" t="0" r="0" b="0"/>
            </a:stretch>
          </a:blipFill>
          <a:ln w="28575" cap="sq">
            <a:solidFill>
              <a:srgbClr val="000000"/>
            </a:solidFill>
            <a:prstDash val="solid"/>
            <a:miter/>
          </a:ln>
        </p:spPr>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Hipotesis</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
        <p:nvSpPr>
          <p:cNvPr name="TextBox 10" id="10"/>
          <p:cNvSpPr txBox="true"/>
          <p:nvPr/>
        </p:nvSpPr>
        <p:spPr>
          <a:xfrm rot="0">
            <a:off x="3649530" y="2457383"/>
            <a:ext cx="10988939" cy="1718895"/>
          </a:xfrm>
          <a:prstGeom prst="rect">
            <a:avLst/>
          </a:prstGeom>
        </p:spPr>
        <p:txBody>
          <a:bodyPr anchor="t" rtlCol="false" tIns="0" lIns="0" bIns="0" rIns="0">
            <a:spAutoFit/>
          </a:bodyPr>
          <a:lstStyle/>
          <a:p>
            <a:pPr algn="ctr">
              <a:lnSpc>
                <a:spcPts val="4762"/>
              </a:lnSpc>
            </a:pPr>
            <a:r>
              <a:rPr lang="en-US" sz="3401">
                <a:solidFill>
                  <a:srgbClr val="000000"/>
                </a:solidFill>
                <a:latin typeface="Radley"/>
                <a:ea typeface="Radley"/>
                <a:cs typeface="Radley"/>
                <a:sym typeface="Radley"/>
              </a:rPr>
              <a:t>Fenomena mahasiswa lebih sering menggunakan Google dibanding membaca jurnal ilmiah.</a:t>
            </a:r>
          </a:p>
          <a:p>
            <a:pPr algn="ctr">
              <a:lnSpc>
                <a:spcPts val="4202"/>
              </a:lnSpc>
            </a:pPr>
          </a:p>
        </p:txBody>
      </p:sp>
      <p:sp>
        <p:nvSpPr>
          <p:cNvPr name="TextBox 11" id="11"/>
          <p:cNvSpPr txBox="true"/>
          <p:nvPr/>
        </p:nvSpPr>
        <p:spPr>
          <a:xfrm rot="0">
            <a:off x="6272503" y="8166830"/>
            <a:ext cx="5742995" cy="514300"/>
          </a:xfrm>
          <a:prstGeom prst="rect">
            <a:avLst/>
          </a:prstGeom>
        </p:spPr>
        <p:txBody>
          <a:bodyPr anchor="t" rtlCol="false" tIns="0" lIns="0" bIns="0" rIns="0">
            <a:spAutoFit/>
          </a:bodyPr>
          <a:lstStyle/>
          <a:p>
            <a:pPr algn="ctr">
              <a:lnSpc>
                <a:spcPts val="4202"/>
              </a:lnSpc>
            </a:pPr>
            <a:r>
              <a:rPr lang="en-US" sz="3001">
                <a:solidFill>
                  <a:srgbClr val="000000"/>
                </a:solidFill>
                <a:latin typeface="Radley"/>
                <a:ea typeface="Radley"/>
                <a:cs typeface="Radley"/>
                <a:sym typeface="Radley"/>
              </a:rPr>
              <a:t>Hipotesis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1354"/>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Freeform 6" id="6"/>
          <p:cNvSpPr/>
          <p:nvPr/>
        </p:nvSpPr>
        <p:spPr>
          <a:xfrm flipH="false" flipV="false" rot="0">
            <a:off x="3493371" y="3905323"/>
            <a:ext cx="11301259" cy="4011947"/>
          </a:xfrm>
          <a:custGeom>
            <a:avLst/>
            <a:gdLst/>
            <a:ahLst/>
            <a:cxnLst/>
            <a:rect r="r" b="b" t="t" l="l"/>
            <a:pathLst>
              <a:path h="4011947" w="11301259">
                <a:moveTo>
                  <a:pt x="0" y="0"/>
                </a:moveTo>
                <a:lnTo>
                  <a:pt x="11301258" y="0"/>
                </a:lnTo>
                <a:lnTo>
                  <a:pt x="11301258" y="4011946"/>
                </a:lnTo>
                <a:lnTo>
                  <a:pt x="0" y="4011946"/>
                </a:lnTo>
                <a:lnTo>
                  <a:pt x="0" y="0"/>
                </a:lnTo>
                <a:close/>
              </a:path>
            </a:pathLst>
          </a:custGeom>
          <a:blipFill>
            <a:blip r:embed="rId3"/>
            <a:stretch>
              <a:fillRect l="0" t="0" r="0" b="0"/>
            </a:stretch>
          </a:blipFill>
          <a:ln w="28575" cap="sq">
            <a:solidFill>
              <a:srgbClr val="000000"/>
            </a:solidFill>
            <a:prstDash val="solid"/>
            <a:miter/>
          </a:ln>
        </p:spPr>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Analisis</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
        <p:nvSpPr>
          <p:cNvPr name="TextBox 10" id="10"/>
          <p:cNvSpPr txBox="true"/>
          <p:nvPr/>
        </p:nvSpPr>
        <p:spPr>
          <a:xfrm rot="0">
            <a:off x="3649530" y="2457383"/>
            <a:ext cx="10988939" cy="1718895"/>
          </a:xfrm>
          <a:prstGeom prst="rect">
            <a:avLst/>
          </a:prstGeom>
        </p:spPr>
        <p:txBody>
          <a:bodyPr anchor="t" rtlCol="false" tIns="0" lIns="0" bIns="0" rIns="0">
            <a:spAutoFit/>
          </a:bodyPr>
          <a:lstStyle/>
          <a:p>
            <a:pPr algn="ctr">
              <a:lnSpc>
                <a:spcPts val="4762"/>
              </a:lnSpc>
            </a:pPr>
            <a:r>
              <a:rPr lang="en-US" sz="3401">
                <a:solidFill>
                  <a:srgbClr val="000000"/>
                </a:solidFill>
                <a:latin typeface="Radley"/>
                <a:ea typeface="Radley"/>
                <a:cs typeface="Radley"/>
                <a:sym typeface="Radley"/>
              </a:rPr>
              <a:t>Fenomena mahasiswa lebih sering menggunakan Google dibanding membaca jurnal ilmiah.</a:t>
            </a:r>
          </a:p>
          <a:p>
            <a:pPr algn="ctr">
              <a:lnSpc>
                <a:spcPts val="4202"/>
              </a:lnSpc>
            </a:pPr>
          </a:p>
        </p:txBody>
      </p:sp>
      <p:sp>
        <p:nvSpPr>
          <p:cNvPr name="TextBox 11" id="11"/>
          <p:cNvSpPr txBox="true"/>
          <p:nvPr/>
        </p:nvSpPr>
        <p:spPr>
          <a:xfrm rot="0">
            <a:off x="6272503" y="8166830"/>
            <a:ext cx="5742995" cy="514300"/>
          </a:xfrm>
          <a:prstGeom prst="rect">
            <a:avLst/>
          </a:prstGeom>
        </p:spPr>
        <p:txBody>
          <a:bodyPr anchor="t" rtlCol="false" tIns="0" lIns="0" bIns="0" rIns="0">
            <a:spAutoFit/>
          </a:bodyPr>
          <a:lstStyle/>
          <a:p>
            <a:pPr algn="ctr">
              <a:lnSpc>
                <a:spcPts val="4202"/>
              </a:lnSpc>
            </a:pPr>
            <a:r>
              <a:rPr lang="en-US" sz="3001">
                <a:solidFill>
                  <a:srgbClr val="000000"/>
                </a:solidFill>
                <a:latin typeface="Radley"/>
                <a:ea typeface="Radley"/>
                <a:cs typeface="Radley"/>
                <a:sym typeface="Radley"/>
              </a:rPr>
              <a:t>Analisis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418" y="580593"/>
            <a:ext cx="19002835" cy="821990"/>
            <a:chOff x="0" y="0"/>
            <a:chExt cx="5004862" cy="216491"/>
          </a:xfrm>
        </p:grpSpPr>
        <p:sp>
          <p:nvSpPr>
            <p:cNvPr name="Freeform 3" id="3"/>
            <p:cNvSpPr/>
            <p:nvPr/>
          </p:nvSpPr>
          <p:spPr>
            <a:xfrm flipH="false" flipV="false" rot="0">
              <a:off x="0" y="0"/>
              <a:ext cx="5004862" cy="216491"/>
            </a:xfrm>
            <a:custGeom>
              <a:avLst/>
              <a:gdLst/>
              <a:ahLst/>
              <a:cxnLst/>
              <a:rect r="r" b="b" t="t" l="l"/>
              <a:pathLst>
                <a:path h="216491" w="5004862">
                  <a:moveTo>
                    <a:pt x="0" y="0"/>
                  </a:moveTo>
                  <a:lnTo>
                    <a:pt x="5004862" y="0"/>
                  </a:lnTo>
                  <a:lnTo>
                    <a:pt x="5004862" y="216491"/>
                  </a:lnTo>
                  <a:lnTo>
                    <a:pt x="0" y="216491"/>
                  </a:lnTo>
                  <a:close/>
                </a:path>
              </a:pathLst>
            </a:custGeom>
            <a:solidFill>
              <a:srgbClr val="0F3D7A"/>
            </a:solidFill>
          </p:spPr>
        </p:sp>
        <p:sp>
          <p:nvSpPr>
            <p:cNvPr name="TextBox 4" id="4"/>
            <p:cNvSpPr txBox="true"/>
            <p:nvPr/>
          </p:nvSpPr>
          <p:spPr>
            <a:xfrm>
              <a:off x="0" y="-38100"/>
              <a:ext cx="5004862" cy="2545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1354"/>
            <a:ext cx="1609243" cy="1609243"/>
          </a:xfrm>
          <a:custGeom>
            <a:avLst/>
            <a:gdLst/>
            <a:ahLst/>
            <a:cxnLst/>
            <a:rect r="r" b="b" t="t" l="l"/>
            <a:pathLst>
              <a:path h="1609243" w="1609243">
                <a:moveTo>
                  <a:pt x="0" y="0"/>
                </a:moveTo>
                <a:lnTo>
                  <a:pt x="1609243" y="0"/>
                </a:lnTo>
                <a:lnTo>
                  <a:pt x="1609243" y="1609243"/>
                </a:lnTo>
                <a:lnTo>
                  <a:pt x="0" y="1609243"/>
                </a:lnTo>
                <a:lnTo>
                  <a:pt x="0" y="0"/>
                </a:lnTo>
                <a:close/>
              </a:path>
            </a:pathLst>
          </a:custGeom>
          <a:blipFill>
            <a:blip r:embed="rId2"/>
            <a:stretch>
              <a:fillRect l="0" t="0" r="0" b="0"/>
            </a:stretch>
          </a:blipFill>
        </p:spPr>
      </p:sp>
      <p:sp>
        <p:nvSpPr>
          <p:cNvPr name="Freeform 6" id="6"/>
          <p:cNvSpPr/>
          <p:nvPr/>
        </p:nvSpPr>
        <p:spPr>
          <a:xfrm flipH="false" flipV="false" rot="0">
            <a:off x="3493371" y="3847984"/>
            <a:ext cx="11301259" cy="4181466"/>
          </a:xfrm>
          <a:custGeom>
            <a:avLst/>
            <a:gdLst/>
            <a:ahLst/>
            <a:cxnLst/>
            <a:rect r="r" b="b" t="t" l="l"/>
            <a:pathLst>
              <a:path h="4181466" w="11301259">
                <a:moveTo>
                  <a:pt x="0" y="0"/>
                </a:moveTo>
                <a:lnTo>
                  <a:pt x="11301258" y="0"/>
                </a:lnTo>
                <a:lnTo>
                  <a:pt x="11301258" y="4181466"/>
                </a:lnTo>
                <a:lnTo>
                  <a:pt x="0" y="4181466"/>
                </a:lnTo>
                <a:lnTo>
                  <a:pt x="0" y="0"/>
                </a:lnTo>
                <a:close/>
              </a:path>
            </a:pathLst>
          </a:custGeom>
          <a:blipFill>
            <a:blip r:embed="rId3"/>
            <a:stretch>
              <a:fillRect l="0" t="0" r="0" b="0"/>
            </a:stretch>
          </a:blipFill>
          <a:ln w="28575" cap="sq">
            <a:solidFill>
              <a:srgbClr val="000000"/>
            </a:solidFill>
            <a:prstDash val="solid"/>
            <a:miter/>
          </a:ln>
        </p:spPr>
      </p:sp>
      <p:sp>
        <p:nvSpPr>
          <p:cNvPr name="TextBox 7" id="7"/>
          <p:cNvSpPr txBox="true"/>
          <p:nvPr/>
        </p:nvSpPr>
        <p:spPr>
          <a:xfrm rot="0">
            <a:off x="1609243" y="711895"/>
            <a:ext cx="4743932" cy="438735"/>
          </a:xfrm>
          <a:prstGeom prst="rect">
            <a:avLst/>
          </a:prstGeom>
        </p:spPr>
        <p:txBody>
          <a:bodyPr anchor="t" rtlCol="false" tIns="0" lIns="0" bIns="0" rIns="0">
            <a:spAutoFit/>
          </a:bodyPr>
          <a:lstStyle/>
          <a:p>
            <a:pPr algn="l">
              <a:lnSpc>
                <a:spcPts val="3642"/>
              </a:lnSpc>
            </a:pPr>
            <a:r>
              <a:rPr lang="en-US" sz="2601">
                <a:solidFill>
                  <a:srgbClr val="FFFFFF"/>
                </a:solidFill>
                <a:latin typeface="Alike Bold"/>
                <a:ea typeface="Alike Bold"/>
                <a:cs typeface="Alike Bold"/>
                <a:sym typeface="Alike Bold"/>
              </a:rPr>
              <a:t>Universitas Khairun</a:t>
            </a:r>
          </a:p>
        </p:txBody>
      </p:sp>
      <p:sp>
        <p:nvSpPr>
          <p:cNvPr name="TextBox 8" id="8"/>
          <p:cNvSpPr txBox="true"/>
          <p:nvPr/>
        </p:nvSpPr>
        <p:spPr>
          <a:xfrm rot="0">
            <a:off x="13260249" y="711895"/>
            <a:ext cx="4743932" cy="438735"/>
          </a:xfrm>
          <a:prstGeom prst="rect">
            <a:avLst/>
          </a:prstGeom>
        </p:spPr>
        <p:txBody>
          <a:bodyPr anchor="t" rtlCol="false" tIns="0" lIns="0" bIns="0" rIns="0">
            <a:spAutoFit/>
          </a:bodyPr>
          <a:lstStyle/>
          <a:p>
            <a:pPr algn="r">
              <a:lnSpc>
                <a:spcPts val="3642"/>
              </a:lnSpc>
            </a:pPr>
            <a:r>
              <a:rPr lang="en-US" sz="2601">
                <a:solidFill>
                  <a:srgbClr val="FFFFFF"/>
                </a:solidFill>
                <a:latin typeface="Alike Bold"/>
                <a:ea typeface="Alike Bold"/>
                <a:cs typeface="Alike Bold"/>
                <a:sym typeface="Alike Bold"/>
              </a:rPr>
              <a:t>Kesimpulan</a:t>
            </a:r>
          </a:p>
        </p:txBody>
      </p:sp>
      <p:sp>
        <p:nvSpPr>
          <p:cNvPr name="TextBox 9" id="9"/>
          <p:cNvSpPr txBox="true"/>
          <p:nvPr/>
        </p:nvSpPr>
        <p:spPr>
          <a:xfrm rot="0">
            <a:off x="158328" y="9657031"/>
            <a:ext cx="4743932" cy="438735"/>
          </a:xfrm>
          <a:prstGeom prst="rect">
            <a:avLst/>
          </a:prstGeom>
        </p:spPr>
        <p:txBody>
          <a:bodyPr anchor="t" rtlCol="false" tIns="0" lIns="0" bIns="0" rIns="0">
            <a:spAutoFit/>
          </a:bodyPr>
          <a:lstStyle/>
          <a:p>
            <a:pPr algn="l">
              <a:lnSpc>
                <a:spcPts val="3642"/>
              </a:lnSpc>
            </a:pPr>
            <a:r>
              <a:rPr lang="en-US" sz="2601">
                <a:solidFill>
                  <a:srgbClr val="0F3D7A"/>
                </a:solidFill>
                <a:latin typeface="Alike Bold"/>
                <a:ea typeface="Alike Bold"/>
                <a:cs typeface="Alike Bold"/>
                <a:sym typeface="Alike Bold"/>
              </a:rPr>
              <a:t>Sasmayunita, S.Pd.,M.Pd</a:t>
            </a:r>
          </a:p>
        </p:txBody>
      </p:sp>
      <p:sp>
        <p:nvSpPr>
          <p:cNvPr name="TextBox 10" id="10"/>
          <p:cNvSpPr txBox="true"/>
          <p:nvPr/>
        </p:nvSpPr>
        <p:spPr>
          <a:xfrm rot="0">
            <a:off x="3649530" y="2457383"/>
            <a:ext cx="10988939" cy="1718895"/>
          </a:xfrm>
          <a:prstGeom prst="rect">
            <a:avLst/>
          </a:prstGeom>
        </p:spPr>
        <p:txBody>
          <a:bodyPr anchor="t" rtlCol="false" tIns="0" lIns="0" bIns="0" rIns="0">
            <a:spAutoFit/>
          </a:bodyPr>
          <a:lstStyle/>
          <a:p>
            <a:pPr algn="ctr">
              <a:lnSpc>
                <a:spcPts val="4762"/>
              </a:lnSpc>
            </a:pPr>
            <a:r>
              <a:rPr lang="en-US" sz="3401">
                <a:solidFill>
                  <a:srgbClr val="000000"/>
                </a:solidFill>
                <a:latin typeface="Radley"/>
                <a:ea typeface="Radley"/>
                <a:cs typeface="Radley"/>
                <a:sym typeface="Radley"/>
              </a:rPr>
              <a:t>Fenomena mahasiswa lebih sering menggunakan Google dibanding membaca jurnal ilmiah.</a:t>
            </a:r>
          </a:p>
          <a:p>
            <a:pPr algn="ctr">
              <a:lnSpc>
                <a:spcPts val="4202"/>
              </a:lnSpc>
            </a:pPr>
          </a:p>
        </p:txBody>
      </p:sp>
      <p:sp>
        <p:nvSpPr>
          <p:cNvPr name="TextBox 11" id="11"/>
          <p:cNvSpPr txBox="true"/>
          <p:nvPr/>
        </p:nvSpPr>
        <p:spPr>
          <a:xfrm rot="0">
            <a:off x="6272503" y="8276516"/>
            <a:ext cx="5742995" cy="514300"/>
          </a:xfrm>
          <a:prstGeom prst="rect">
            <a:avLst/>
          </a:prstGeom>
        </p:spPr>
        <p:txBody>
          <a:bodyPr anchor="t" rtlCol="false" tIns="0" lIns="0" bIns="0" rIns="0">
            <a:spAutoFit/>
          </a:bodyPr>
          <a:lstStyle/>
          <a:p>
            <a:pPr algn="ctr">
              <a:lnSpc>
                <a:spcPts val="4202"/>
              </a:lnSpc>
            </a:pPr>
            <a:r>
              <a:rPr lang="en-US" sz="3001">
                <a:solidFill>
                  <a:srgbClr val="000000"/>
                </a:solidFill>
                <a:latin typeface="Radley"/>
                <a:ea typeface="Radley"/>
                <a:cs typeface="Radley"/>
                <a:sym typeface="Radley"/>
              </a:rPr>
              <a:t>Kesimpulan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DAHDv3G6DLI</dc:identifier>
  <dcterms:modified xsi:type="dcterms:W3CDTF">2011-08-01T06:04:30Z</dcterms:modified>
  <cp:revision>1</cp:revision>
  <dc:title>PPT Struktur Fenomena Metode Ilmiah</dc:title>
</cp:coreProperties>
</file>